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Sun, and I built a clinical documentation quality assessment system using MedGemma. This addresses a critical problem in healthcare that costs hospitals millions annually.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Poor clinical documentation creates multiple problems. When emergency physicians rush through notes during busy shifts, they often miss critical sections like allergies or discharge instructions. This creates patient safety risks and billing compliance issues. Current quality review is manual, subjective, and happens weeks after patient encounters - far too late for real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developed a multi-dimensional scoring system that evaluates clinical notes across five key areas: completeness, accuracy, compliance, risk documentation, and clarity. The system uses MedGemma-4B-it because clinical quality assessment requires deep medical domain knowledge. MedGemma understands healthcare terminology, documentation standards, and clinical workflows that general models miss. My architecture uses five specialized MedGemma agents, each fine-tuned for dimension-specific scoring, coordinated through a unified orchestrator.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system architecture. Clinical notes first pass through input validation to ensure they're actually clinical text. Then the MedGemma orchestrator coordinates five specialized agents - one for each quality dimension. Each agent provides a score, and the system aggregates these into a comprehensive quality report. This is where I'll show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generated 200 synthetic clinical notes across multiple quality levels, from gold standard to inadequate documentation. Each note was labeled by GPT-4 across the five dimensions. I fine-tuned MedGemma using QLoRA for memory efficiency, creating specialized agents for each quality dimension. The biggest technical challenge was training data scale. 200 examples proved insufficient for reliable fine-tuning of a 4-billion parameter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system enables real-time quality feedback, transforming weeks-long review cycles into immediate coaching opportunities. For healthcare systems, this means better patient safety documentation and improved billing compliance. The 4-bit quantized models can run offline on standard clinical workstations, meeting healthcare's strict privacy requirements. While fine-tuning with limited synthetic data showed challenges, the multi-dimensional framework and MedGemma integration demonstrate a viable path toward automated clinical quality assessment. Future work would involve larger training datasets with real de-identified clinical notes.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b="1">
                <a:solidFill>
                  <a:srgbClr val="003366"/>
                </a:solidFill>
              </a:defRPr>
            </a:pPr>
            <a:r>
              <a:t>Clinical Documentation Quality Scorer</a:t>
            </a:r>
          </a:p>
        </p:txBody>
      </p:sp>
      <p:sp>
        <p:nvSpPr>
          <p:cNvPr id="3" name="Subtitle 2"/>
          <p:cNvSpPr>
            <a:spLocks noGrp="1"/>
          </p:cNvSpPr>
          <p:nvPr>
            <p:ph type="subTitle" idx="1"/>
          </p:nvPr>
        </p:nvSpPr>
        <p:spPr/>
        <p:txBody>
          <a:bodyPr/>
          <a:lstStyle/>
          <a:p>
            <a:r>
              <a:t>Using MedGemma for Real-time Healthcare Quality Assessment</a:t>
            </a:r>
          </a:p>
          <a:p/>
          <a:p>
            <a:r>
              <a:t>Sun</a:t>
            </a:r>
          </a:p>
          <a:p>
            <a:r>
              <a:t>HAI-DEF Competition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Clinical Documentation Crisis</a:t>
            </a:r>
          </a:p>
        </p:txBody>
      </p:sp>
      <p:sp>
        <p:nvSpPr>
          <p:cNvPr id="3" name="Content Placeholder 2"/>
          <p:cNvSpPr>
            <a:spLocks noGrp="1"/>
          </p:cNvSpPr>
          <p:nvPr>
            <p:ph idx="1"/>
          </p:nvPr>
        </p:nvSpPr>
        <p:spPr/>
        <p:txBody>
          <a:bodyPr/>
          <a:lstStyle/>
          <a:p>
            <a:pPr>
              <a:spcAft>
                <a:spcPts val="1200"/>
              </a:spcAft>
              <a:defRPr sz="2400"/>
            </a:pPr>
            <a:r>
              <a:t>❌ Manual quality review (weeks delayed)</a:t>
            </a:r>
          </a:p>
          <a:p>
            <a:pPr>
              <a:spcAft>
                <a:spcPts val="1200"/>
              </a:spcAft>
              <a:defRPr sz="2400"/>
            </a:pPr>
          </a:p>
          <a:p>
            <a:pPr>
              <a:spcAft>
                <a:spcPts val="1200"/>
              </a:spcAft>
              <a:defRPr sz="2400"/>
            </a:pPr>
            <a:r>
              <a:t>❌ Patient safety risks from missing info</a:t>
            </a:r>
          </a:p>
          <a:p>
            <a:pPr>
              <a:spcAft>
                <a:spcPts val="1200"/>
              </a:spcAft>
              <a:defRPr sz="2400"/>
            </a:pPr>
          </a:p>
          <a:p>
            <a:pPr>
              <a:spcAft>
                <a:spcPts val="1200"/>
              </a:spcAft>
              <a:defRPr sz="2400"/>
            </a:pPr>
            <a:r>
              <a:t>❌ Billing compliance failures</a:t>
            </a:r>
          </a:p>
          <a:p>
            <a:pPr>
              <a:spcAft>
                <a:spcPts val="1200"/>
              </a:spcAft>
              <a:defRPr sz="2400"/>
            </a:pPr>
          </a:p>
          <a:p>
            <a:pPr>
              <a:spcAft>
                <a:spcPts val="1200"/>
              </a:spcAft>
              <a:defRPr sz="2400"/>
            </a:pPr>
            <a:r>
              <a:t>❌ Subjective, inconsistent scoring</a:t>
            </a:r>
          </a:p>
          <a:p>
            <a:pPr>
              <a:spcAft>
                <a:spcPts val="1200"/>
              </a:spcAft>
              <a:defRPr sz="2400"/>
            </a:pPr>
          </a:p>
          <a:p>
            <a:pPr>
              <a:spcAft>
                <a:spcPts val="1200"/>
              </a:spcAft>
              <a:defRPr sz="2400"/>
            </a:pPr>
            <a:r>
              <a:t>Emergency departments most vulnerable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Multi-Dimensional Quality Assessment</a:t>
            </a:r>
          </a:p>
        </p:txBody>
      </p:sp>
      <p:sp>
        <p:nvSpPr>
          <p:cNvPr id="3" name="Content Placeholder 2"/>
          <p:cNvSpPr>
            <a:spLocks noGrp="1"/>
          </p:cNvSpPr>
          <p:nvPr>
            <p:ph idx="1"/>
          </p:nvPr>
        </p:nvSpPr>
        <p:spPr/>
        <p:txBody>
          <a:bodyPr/>
          <a:lstStyle/>
          <a:p>
            <a:pPr>
              <a:spcAft>
                <a:spcPts val="800"/>
              </a:spcAft>
              <a:defRPr sz="2200"/>
            </a:pPr>
            <a:r>
              <a:t>✅ 5 Quality Dimensions:</a:t>
            </a:r>
          </a:p>
          <a:p>
            <a:pPr>
              <a:spcAft>
                <a:spcPts val="800"/>
              </a:spcAft>
              <a:defRPr sz="2200"/>
            </a:pPr>
            <a:r>
              <a:t>   • Completeness</a:t>
            </a:r>
          </a:p>
          <a:p>
            <a:pPr>
              <a:spcAft>
                <a:spcPts val="800"/>
              </a:spcAft>
              <a:defRPr sz="2200"/>
            </a:pPr>
            <a:r>
              <a:t>   • Accuracy</a:t>
            </a:r>
          </a:p>
          <a:p>
            <a:pPr>
              <a:spcAft>
                <a:spcPts val="800"/>
              </a:spcAft>
              <a:defRPr sz="2200"/>
            </a:pPr>
            <a:r>
              <a:t>   • Compliance</a:t>
            </a:r>
          </a:p>
          <a:p>
            <a:pPr>
              <a:spcAft>
                <a:spcPts val="800"/>
              </a:spcAft>
              <a:defRPr sz="2200"/>
            </a:pPr>
            <a:r>
              <a:t>   • Risk Documentation</a:t>
            </a:r>
          </a:p>
          <a:p>
            <a:pPr>
              <a:spcAft>
                <a:spcPts val="800"/>
              </a:spcAft>
              <a:defRPr sz="2200"/>
            </a:pPr>
            <a:r>
              <a:t>   • Clarity</a:t>
            </a:r>
          </a:p>
          <a:p>
            <a:pPr>
              <a:spcAft>
                <a:spcPts val="800"/>
              </a:spcAft>
              <a:defRPr sz="2200"/>
            </a:pPr>
          </a:p>
          <a:p>
            <a:pPr>
              <a:spcAft>
                <a:spcPts val="800"/>
              </a:spcAft>
              <a:defRPr sz="2200"/>
            </a:pPr>
            <a:r>
              <a:t>✅ MedGemma-4B-it: Medical domain expertise</a:t>
            </a:r>
          </a:p>
          <a:p>
            <a:pPr>
              <a:spcAft>
                <a:spcPts val="800"/>
              </a:spcAft>
              <a:defRPr sz="2200"/>
            </a:pPr>
          </a:p>
          <a:p>
            <a:pPr>
              <a:spcAft>
                <a:spcPts val="800"/>
              </a:spcAft>
              <a:defRPr sz="2200"/>
            </a:pPr>
            <a:r>
              <a:t>✅ Real-time feedback (seconds vs weeks)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MedGemma Multi-Agent Architecture</a:t>
            </a:r>
          </a:p>
        </p:txBody>
      </p:sp>
      <p:sp>
        <p:nvSpPr>
          <p:cNvPr id="3" name="Content Placeholder 2"/>
          <p:cNvSpPr>
            <a:spLocks noGrp="1"/>
          </p:cNvSpPr>
          <p:nvPr>
            <p:ph idx="1"/>
          </p:nvPr>
        </p:nvSpPr>
        <p:spPr/>
        <p:txBody>
          <a:bodyPr/>
          <a:lstStyle/>
          <a:p>
            <a:pPr algn="ctr">
              <a:defRPr sz="2000">
                <a:latin typeface="Courier New"/>
              </a:defRPr>
            </a:pPr>
            <a:r>
              <a:t>Clinical Note Input</a:t>
            </a:r>
          </a:p>
          <a:p>
            <a:pPr algn="ctr">
              <a:defRPr sz="2000">
                <a:latin typeface="Courier New"/>
              </a:defRPr>
            </a:pPr>
            <a:r>
              <a:t>         ↓</a:t>
            </a:r>
          </a:p>
          <a:p>
            <a:pPr algn="ctr">
              <a:defRPr sz="2000">
                <a:latin typeface="Courier New"/>
              </a:defRPr>
            </a:pPr>
            <a:r>
              <a:t>   Input Validation</a:t>
            </a:r>
          </a:p>
          <a:p>
            <a:pPr algn="ctr">
              <a:defRPr sz="2000">
                <a:latin typeface="Courier New"/>
              </a:defRPr>
            </a:pPr>
            <a:r>
              <a:t>         ↓</a:t>
            </a:r>
          </a:p>
          <a:p>
            <a:pPr algn="ctr">
              <a:defRPr sz="2000">
                <a:latin typeface="Courier New"/>
              </a:defRPr>
            </a:pPr>
            <a:r>
              <a:t>   MedGemma Orchestrator</a:t>
            </a:r>
          </a:p>
          <a:p>
            <a:pPr algn="ctr">
              <a:defRPr sz="2000">
                <a:latin typeface="Courier New"/>
              </a:defRPr>
            </a:pPr>
            <a:r>
              <a:t>    ↙    ↙    ↓    ↘    ↘</a:t>
            </a:r>
          </a:p>
          <a:p>
            <a:pPr algn="ctr">
              <a:defRPr sz="2000">
                <a:latin typeface="Courier New"/>
              </a:defRPr>
            </a:pPr>
            <a:r>
              <a:t>  Comp  Acc  Comp  Risk  Clar</a:t>
            </a:r>
          </a:p>
          <a:p>
            <a:pPr algn="ctr">
              <a:defRPr sz="2000">
                <a:latin typeface="Courier New"/>
              </a:defRPr>
            </a:pPr>
            <a:r>
              <a:t>    ↘    ↘    ↓    ↙    ↙</a:t>
            </a:r>
          </a:p>
          <a:p>
            <a:pPr algn="ctr">
              <a:defRPr sz="2000">
                <a:latin typeface="Courier New"/>
              </a:defRPr>
            </a:pPr>
            <a:r>
              <a:t>  Quality Assessment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Implementation</a:t>
            </a:r>
          </a:p>
        </p:txBody>
      </p:sp>
      <p:sp>
        <p:nvSpPr>
          <p:cNvPr id="3" name="Content Placeholder 2"/>
          <p:cNvSpPr>
            <a:spLocks noGrp="1"/>
          </p:cNvSpPr>
          <p:nvPr>
            <p:ph idx="1"/>
          </p:nvPr>
        </p:nvSpPr>
        <p:spPr/>
        <p:txBody>
          <a:bodyPr/>
          <a:lstStyle/>
          <a:p>
            <a:pPr>
              <a:spcAft>
                <a:spcPts val="1000"/>
              </a:spcAft>
              <a:defRPr sz="2000"/>
            </a:pPr>
            <a:r>
              <a:t>📊 200 Synthetic Clinical Notes</a:t>
            </a:r>
          </a:p>
          <a:p>
            <a:pPr>
              <a:spcAft>
                <a:spcPts val="1000"/>
              </a:spcAft>
              <a:defRPr sz="2000"/>
            </a:pPr>
            <a:r>
              <a:t>   • Gold standard → Rushed → Minimal</a:t>
            </a:r>
          </a:p>
          <a:p>
            <a:pPr>
              <a:spcAft>
                <a:spcPts val="1000"/>
              </a:spcAft>
              <a:defRPr sz="2000"/>
            </a:pPr>
          </a:p>
          <a:p>
            <a:pPr>
              <a:spcAft>
                <a:spcPts val="1000"/>
              </a:spcAft>
              <a:defRPr sz="2000"/>
            </a:pPr>
            <a:r>
              <a:t>🤖 GPT-4 Ground Truth Labeling</a:t>
            </a:r>
          </a:p>
          <a:p>
            <a:pPr>
              <a:spcAft>
                <a:spcPts val="1000"/>
              </a:spcAft>
              <a:defRPr sz="2000"/>
            </a:pPr>
            <a:r>
              <a:t>   • 5-dimensional scoring</a:t>
            </a:r>
          </a:p>
          <a:p>
            <a:pPr>
              <a:spcAft>
                <a:spcPts val="1000"/>
              </a:spcAft>
              <a:defRPr sz="2000"/>
            </a:pPr>
          </a:p>
          <a:p>
            <a:pPr>
              <a:spcAft>
                <a:spcPts val="1000"/>
              </a:spcAft>
              <a:defRPr sz="2000"/>
            </a:pPr>
            <a:r>
              <a:t>⚙️ QLoRA Fine-tuning</a:t>
            </a:r>
          </a:p>
          <a:p>
            <a:pPr>
              <a:spcAft>
                <a:spcPts val="1000"/>
              </a:spcAft>
              <a:defRPr sz="2000"/>
            </a:pPr>
            <a:r>
              <a:t>   • 5 specialized MedGemma agents</a:t>
            </a:r>
          </a:p>
          <a:p>
            <a:pPr>
              <a:spcAft>
                <a:spcPts val="1000"/>
              </a:spcAft>
              <a:defRPr sz="2000"/>
            </a:pPr>
            <a:r>
              <a:t>   • 4-bit quantization for efficiency</a:t>
            </a:r>
          </a:p>
          <a:p>
            <a:pPr>
              <a:spcAft>
                <a:spcPts val="1000"/>
              </a:spcAft>
              <a:defRPr sz="2000"/>
            </a:pPr>
          </a:p>
          <a:p>
            <a:pPr>
              <a:spcAft>
                <a:spcPts val="1000"/>
              </a:spcAft>
              <a:defRPr sz="2000"/>
            </a:pPr>
            <a:r>
              <a:t>🚧 Challenge: Limited training data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&amp; Future Work</a:t>
            </a:r>
          </a:p>
        </p:txBody>
      </p:sp>
      <p:sp>
        <p:nvSpPr>
          <p:cNvPr id="3" name="Content Placeholder 2"/>
          <p:cNvSpPr>
            <a:spLocks noGrp="1"/>
          </p:cNvSpPr>
          <p:nvPr>
            <p:ph idx="1"/>
          </p:nvPr>
        </p:nvSpPr>
        <p:spPr/>
        <p:txBody>
          <a:bodyPr/>
          <a:lstStyle/>
          <a:p>
            <a:pPr>
              <a:spcAft>
                <a:spcPts val="1000"/>
              </a:spcAft>
              <a:defRPr sz="2200"/>
            </a:pPr>
            <a:r>
              <a:t>🏥 Real-time quality feedback</a:t>
            </a:r>
          </a:p>
          <a:p>
            <a:pPr>
              <a:spcAft>
                <a:spcPts val="1000"/>
              </a:spcAft>
              <a:defRPr sz="2200"/>
            </a:pPr>
          </a:p>
          <a:p>
            <a:pPr>
              <a:spcAft>
                <a:spcPts val="1000"/>
              </a:spcAft>
              <a:defRPr sz="2200"/>
            </a:pPr>
            <a:r>
              <a:t>⚡ Weeks → Seconds response time</a:t>
            </a:r>
          </a:p>
          <a:p>
            <a:pPr>
              <a:spcAft>
                <a:spcPts val="1000"/>
              </a:spcAft>
              <a:defRPr sz="2200"/>
            </a:pPr>
          </a:p>
          <a:p>
            <a:pPr>
              <a:spcAft>
                <a:spcPts val="1000"/>
              </a:spcAft>
              <a:defRPr sz="2200"/>
            </a:pPr>
            <a:r>
              <a:t>🛡️ Better patient safety documentation</a:t>
            </a:r>
          </a:p>
          <a:p>
            <a:pPr>
              <a:spcAft>
                <a:spcPts val="1000"/>
              </a:spcAft>
              <a:defRPr sz="2200"/>
            </a:pPr>
          </a:p>
          <a:p>
            <a:pPr>
              <a:spcAft>
                <a:spcPts val="1000"/>
              </a:spcAft>
              <a:defRPr sz="2200"/>
            </a:pPr>
            <a:r>
              <a:t>💰 Improved billing compliance</a:t>
            </a:r>
          </a:p>
          <a:p>
            <a:pPr>
              <a:spcAft>
                <a:spcPts val="1000"/>
              </a:spcAft>
              <a:defRPr sz="2200"/>
            </a:pPr>
          </a:p>
          <a:p>
            <a:pPr>
              <a:spcAft>
                <a:spcPts val="1000"/>
              </a:spcAft>
              <a:defRPr sz="2200"/>
            </a:pPr>
            <a:r>
              <a:t>🔒 On-premises deployment (HIPAA ready)</a:t>
            </a:r>
          </a:p>
          <a:p>
            <a:pPr>
              <a:spcAft>
                <a:spcPts val="1000"/>
              </a:spcAft>
              <a:defRPr sz="2200"/>
            </a:pPr>
          </a:p>
          <a:p>
            <a:pPr>
              <a:spcAft>
                <a:spcPts val="1000"/>
              </a:spcAft>
              <a:defRPr sz="2200"/>
            </a:pPr>
            <a:r>
              <a:t>Future: Larger datasets + Real clinical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